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314" r:id="rId2"/>
    <p:sldId id="277" r:id="rId3"/>
    <p:sldId id="315" r:id="rId4"/>
    <p:sldId id="316" r:id="rId5"/>
    <p:sldId id="307" r:id="rId6"/>
    <p:sldId id="306" r:id="rId7"/>
    <p:sldId id="308" r:id="rId8"/>
    <p:sldId id="309" r:id="rId9"/>
    <p:sldId id="310" r:id="rId10"/>
    <p:sldId id="311" r:id="rId11"/>
    <p:sldId id="312" r:id="rId12"/>
    <p:sldId id="313" r:id="rId13"/>
    <p:sldId id="29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SaRiTD9uDhGJ3nUfwohnl+c0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94B"/>
    <a:srgbClr val="15264B"/>
    <a:srgbClr val="1B4284"/>
    <a:srgbClr val="E84B36"/>
    <a:srgbClr val="FA5738"/>
    <a:srgbClr val="FF552E"/>
    <a:srgbClr val="0E2248"/>
    <a:srgbClr val="0E2E5A"/>
    <a:srgbClr val="0B1A53"/>
    <a:srgbClr val="030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19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435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8369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3476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64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usyadav2@illinois.edu" TargetMode="External"/><Relationship Id="rId3" Type="http://schemas.openxmlformats.org/officeDocument/2006/relationships/image" Target="../media/image1.jpg"/><Relationship Id="rId7" Type="http://schemas.openxmlformats.org/officeDocument/2006/relationships/hyperlink" Target="mailto:mohits3@illinoi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wasique2@illinois.edu" TargetMode="External"/><Relationship Id="rId5" Type="http://schemas.openxmlformats.org/officeDocument/2006/relationships/hyperlink" Target="mailto:malpas2@illinois.edu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5;p7">
            <a:extLst>
              <a:ext uri="{FF2B5EF4-FFF2-40B4-BE49-F238E27FC236}">
                <a16:creationId xmlns:a16="http://schemas.microsoft.com/office/drawing/2014/main" id="{001E8A82-2D09-8A40-AB15-BEA76228B6A2}"/>
              </a:ext>
            </a:extLst>
          </p:cNvPr>
          <p:cNvSpPr/>
          <p:nvPr/>
        </p:nvSpPr>
        <p:spPr>
          <a:xfrm rot="10800000" flipH="1">
            <a:off x="-1" y="0"/>
            <a:ext cx="12192000" cy="686616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DF7902D4-540E-464A-BEC7-4711C02B37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4" name="Google Shape;97;p1">
            <a:extLst>
              <a:ext uri="{FF2B5EF4-FFF2-40B4-BE49-F238E27FC236}">
                <a16:creationId xmlns:a16="http://schemas.microsoft.com/office/drawing/2014/main" id="{6EE6B1E5-9B9E-FD48-9F48-627803FDB7F5}"/>
              </a:ext>
            </a:extLst>
          </p:cNvPr>
          <p:cNvSpPr txBox="1"/>
          <p:nvPr/>
        </p:nvSpPr>
        <p:spPr>
          <a:xfrm>
            <a:off x="1303806" y="468122"/>
            <a:ext cx="9923929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  <a:t>COVID 19 Detection Through Radiograph Images </a:t>
            </a:r>
            <a:b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  <a:t>Using Deep Learning Algorithm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8FBAA0E1-3AE3-CC42-A2EA-C66D0BE98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4240" y="6129789"/>
            <a:ext cx="2075966" cy="5379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D9D5D0-1DF8-694A-A8DE-80E52C81F1DC}"/>
              </a:ext>
            </a:extLst>
          </p:cNvPr>
          <p:cNvSpPr txBox="1"/>
          <p:nvPr/>
        </p:nvSpPr>
        <p:spPr>
          <a:xfrm>
            <a:off x="4152094" y="2368516"/>
            <a:ext cx="61366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FFFFFF"/>
                </a:solidFill>
              </a:rPr>
              <a:t>Alpas</a:t>
            </a:r>
            <a:r>
              <a:rPr lang="en-US" sz="1800" dirty="0">
                <a:solidFill>
                  <a:srgbClr val="FFFFFF"/>
                </a:solidFill>
              </a:rPr>
              <a:t>, Michael (</a:t>
            </a:r>
            <a:r>
              <a:rPr lang="en-US" sz="1800" dirty="0">
                <a:solidFill>
                  <a:srgbClr val="FFFFFF"/>
                </a:solidFill>
                <a:hlinkClick r:id="rId5"/>
              </a:rPr>
              <a:t>malpas2@illinois.edu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Ahmad, </a:t>
            </a:r>
            <a:r>
              <a:rPr lang="en-US" sz="1800" dirty="0" err="1">
                <a:solidFill>
                  <a:srgbClr val="FFFFFF"/>
                </a:solidFill>
              </a:rPr>
              <a:t>Wasique</a:t>
            </a:r>
            <a:r>
              <a:rPr lang="en-US" sz="1800" dirty="0">
                <a:solidFill>
                  <a:srgbClr val="FFFFFF"/>
                </a:solidFill>
              </a:rPr>
              <a:t> (</a:t>
            </a:r>
            <a:r>
              <a:rPr lang="en-US" sz="1800" dirty="0">
                <a:solidFill>
                  <a:srgbClr val="FFFFFF"/>
                </a:solidFill>
                <a:hlinkClick r:id="rId6"/>
              </a:rPr>
              <a:t>wasique2@illinois.edu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Singh, Mohit (</a:t>
            </a:r>
            <a:r>
              <a:rPr lang="en-US" sz="1800" dirty="0">
                <a:solidFill>
                  <a:srgbClr val="FFFFFF"/>
                </a:solidFill>
                <a:hlinkClick r:id="rId7"/>
              </a:rPr>
              <a:t>mohits3@illinois.edu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Yadav, Upendra Singh (</a:t>
            </a:r>
            <a:r>
              <a:rPr lang="en-US" sz="1800" dirty="0">
                <a:solidFill>
                  <a:srgbClr val="FFFFFF"/>
                </a:solidFill>
                <a:hlinkClick r:id="rId8"/>
              </a:rPr>
              <a:t>usyadav2@illinois.edu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FB33901B-8907-844A-A3BC-CA61E0FB18BD}"/>
              </a:ext>
            </a:extLst>
          </p:cNvPr>
          <p:cNvSpPr/>
          <p:nvPr/>
        </p:nvSpPr>
        <p:spPr>
          <a:xfrm>
            <a:off x="3853355" y="2143764"/>
            <a:ext cx="118570" cy="2696274"/>
          </a:xfrm>
          <a:prstGeom prst="rect">
            <a:avLst/>
          </a:prstGeom>
          <a:solidFill>
            <a:srgbClr val="FF55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38340-037C-D448-BADC-C54CF9BC129F}"/>
              </a:ext>
            </a:extLst>
          </p:cNvPr>
          <p:cNvSpPr txBox="1"/>
          <p:nvPr/>
        </p:nvSpPr>
        <p:spPr>
          <a:xfrm>
            <a:off x="1533973" y="3175555"/>
            <a:ext cx="2024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Team 1233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61D13-A7C5-EC49-98E6-023CBBEB1972}"/>
              </a:ext>
            </a:extLst>
          </p:cNvPr>
          <p:cNvSpPr txBox="1"/>
          <p:nvPr/>
        </p:nvSpPr>
        <p:spPr>
          <a:xfrm>
            <a:off x="1533973" y="5391125"/>
            <a:ext cx="620554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Course	:   CS 598 Deep Learning for Health Care – Spring 2021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Professor	:   </a:t>
            </a:r>
            <a:r>
              <a:rPr lang="en-US" sz="1600" dirty="0" err="1">
                <a:solidFill>
                  <a:schemeClr val="bg1"/>
                </a:solidFill>
                <a:ea typeface="+mn-lt"/>
                <a:cs typeface="+mn-lt"/>
              </a:rPr>
              <a:t>Jimeng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Sun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1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0E29CB21-E692-D140-A346-BBEF5BBD2C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DBD98685-E6DB-4548-992F-86EFC1B6F030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5264B"/>
          </a:solidFill>
          <a:ln>
            <a:noFill/>
          </a:ln>
          <a:effectLst>
            <a:glow>
              <a:schemeClr val="accent1"/>
            </a:glo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5C485F8-53F2-BD48-9D7B-D5B2FD5D6C0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18745B6-76BD-F141-A42C-4752F066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BD31E2B-72C7-9D4E-A895-6763E2548FC1}"/>
              </a:ext>
            </a:extLst>
          </p:cNvPr>
          <p:cNvSpPr txBox="1"/>
          <p:nvPr/>
        </p:nvSpPr>
        <p:spPr>
          <a:xfrm>
            <a:off x="177308" y="102827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E703-63E3-4313-8947-FC188D6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8299"/>
            <a:ext cx="10515600" cy="4948664"/>
          </a:xfrm>
        </p:spPr>
        <p:txBody>
          <a:bodyPr>
            <a:norm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Project Introduction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Methods and Approaches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Results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Discussion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References</a:t>
            </a:r>
          </a:p>
          <a:p>
            <a:endParaRPr lang="en-US" dirty="0"/>
          </a:p>
        </p:txBody>
      </p:sp>
      <p:sp>
        <p:nvSpPr>
          <p:cNvPr id="14" name="Google Shape;100;p1">
            <a:extLst>
              <a:ext uri="{FF2B5EF4-FFF2-40B4-BE49-F238E27FC236}">
                <a16:creationId xmlns:a16="http://schemas.microsoft.com/office/drawing/2014/main" id="{0483B9DF-0128-4942-847C-02A5B10A510B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492365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0E29CB21-E692-D140-A346-BBEF5BBD2C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432AB278-B74A-2046-BAFE-4E0BCAFA34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DBD98685-E6DB-4548-992F-86EFC1B6F030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5C485F8-53F2-BD48-9D7B-D5B2FD5D6C0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18745B6-76BD-F141-A42C-4752F066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BD31E2B-72C7-9D4E-A895-6763E2548FC1}"/>
              </a:ext>
            </a:extLst>
          </p:cNvPr>
          <p:cNvSpPr txBox="1"/>
          <p:nvPr/>
        </p:nvSpPr>
        <p:spPr>
          <a:xfrm>
            <a:off x="177308" y="102827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E703-63E3-4313-8947-FC188D6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8299"/>
            <a:ext cx="10515600" cy="494866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Background: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Chest X-ray is a fast and effective diagnostic method for COVID-19 detection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Many deep learning models have been developed to detect Covid-19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Convolutional Neural Network </a:t>
            </a:r>
            <a:r>
              <a:rPr lang="en-US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(CNNInceptionV3)</a:t>
            </a:r>
          </a:p>
          <a:p>
            <a:pPr lvl="2"/>
            <a:r>
              <a:rPr lang="en-US" sz="22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ResNet</a:t>
            </a:r>
            <a:r>
              <a:rPr lang="en-US" sz="22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 50, ResNet152, </a:t>
            </a:r>
            <a:r>
              <a:rPr lang="en-US" sz="2200" dirty="0">
                <a:solidFill>
                  <a:schemeClr val="bg1"/>
                </a:solidFill>
                <a:latin typeface="Arial"/>
                <a:cs typeface="Arial"/>
              </a:rPr>
              <a:t>Machine learning models: SVM, Logistic Regression, Decision Tree, </a:t>
            </a:r>
            <a:r>
              <a:rPr lang="en-US" sz="2200" dirty="0" err="1">
                <a:solidFill>
                  <a:schemeClr val="bg1"/>
                </a:solidFill>
                <a:latin typeface="Arial"/>
                <a:cs typeface="Arial"/>
              </a:rPr>
              <a:t>etc</a:t>
            </a:r>
            <a:endParaRPr lang="en-US" sz="2200" dirty="0">
              <a:solidFill>
                <a:schemeClr val="bg1"/>
              </a:solidFill>
              <a:latin typeface="Arial"/>
              <a:cs typeface="Arial"/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Deep Learning (DL) framework: PyTorch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Cloud computing platform: AWS Services (</a:t>
            </a:r>
            <a:r>
              <a:rPr lang="en-US" sz="2000" dirty="0" err="1">
                <a:solidFill>
                  <a:schemeClr val="bg1"/>
                </a:solidFill>
                <a:latin typeface="Arial"/>
                <a:cs typeface="Arial"/>
              </a:rPr>
              <a:t>SageMaker</a:t>
            </a: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, S3, Lambda)</a:t>
            </a:r>
          </a:p>
          <a:p>
            <a:endParaRPr lang="en-US" sz="24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Objective:</a:t>
            </a:r>
          </a:p>
          <a:p>
            <a:pPr lvl="1" algn="just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To apply DL algorithm, we learned from our class to possibly detect COVID-19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4" name="Google Shape;100;p1">
            <a:extLst>
              <a:ext uri="{FF2B5EF4-FFF2-40B4-BE49-F238E27FC236}">
                <a16:creationId xmlns:a16="http://schemas.microsoft.com/office/drawing/2014/main" id="{0483B9DF-0128-4942-847C-02A5B10A510B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007195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0E29CB21-E692-D140-A346-BBEF5BBD2C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432AB278-B74A-2046-BAFE-4E0BCAFA34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DBD98685-E6DB-4548-992F-86EFC1B6F030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5C485F8-53F2-BD48-9D7B-D5B2FD5D6C0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18745B6-76BD-F141-A42C-4752F066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BD31E2B-72C7-9D4E-A895-6763E2548FC1}"/>
              </a:ext>
            </a:extLst>
          </p:cNvPr>
          <p:cNvSpPr txBox="1"/>
          <p:nvPr/>
        </p:nvSpPr>
        <p:spPr>
          <a:xfrm>
            <a:off x="177308" y="102827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E703-63E3-4313-8947-FC188D6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8299"/>
            <a:ext cx="10515600" cy="494866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Dataset: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Used iee8023 data set (https://</a:t>
            </a:r>
            <a:r>
              <a:rPr lang="en-US" sz="20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github.com</a:t>
            </a:r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/ieee8023/covid-</a:t>
            </a:r>
            <a:r>
              <a:rPr lang="en-US" sz="20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chestxray</a:t>
            </a:r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-dataset)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Public open dataset of chest x-ray and CT Images of patients positive or suspected of Covid-19</a:t>
            </a:r>
            <a:endParaRPr lang="en-US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pPr marL="114300" indent="0">
              <a:buNone/>
            </a:pPr>
            <a:endParaRPr lang="en-US" sz="24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COVID-19 Detection Model:</a:t>
            </a:r>
          </a:p>
          <a:p>
            <a:pPr lvl="1" algn="just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Split 70% training, 20% test and 10% validation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4" name="Google Shape;100;p1">
            <a:extLst>
              <a:ext uri="{FF2B5EF4-FFF2-40B4-BE49-F238E27FC236}">
                <a16:creationId xmlns:a16="http://schemas.microsoft.com/office/drawing/2014/main" id="{0483B9DF-0128-4942-847C-02A5B10A510B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17906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D907FF7A-4780-B34F-8508-762623E24E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536DA9B3-9D0F-5742-97A2-5CB36A119D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155429" y="165158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4A35E5-93C1-4A05-9BE6-FF454E63436F}"/>
              </a:ext>
            </a:extLst>
          </p:cNvPr>
          <p:cNvSpPr txBox="1">
            <a:spLocks/>
          </p:cNvSpPr>
          <p:nvPr/>
        </p:nvSpPr>
        <p:spPr>
          <a:xfrm>
            <a:off x="838200" y="2718706"/>
            <a:ext cx="10515600" cy="37619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AWS SageMaker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AWS s3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Pretrained ResNet50 and InceptionV3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SGD with learning rate 0.001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Adam with a learning rate of 0.00003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Cross-entropy loss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PyTorch</a:t>
            </a:r>
          </a:p>
          <a:p>
            <a:endParaRPr lang="en-US" dirty="0">
              <a:latin typeface="+mj-lt"/>
              <a:ea typeface="+mn-lt"/>
              <a:cs typeface="+mn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E4C8F-7C59-4DFB-9739-2296853DC85D}"/>
              </a:ext>
            </a:extLst>
          </p:cNvPr>
          <p:cNvSpPr txBox="1"/>
          <p:nvPr/>
        </p:nvSpPr>
        <p:spPr>
          <a:xfrm>
            <a:off x="838200" y="1321212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Model Training &amp; development</a:t>
            </a:r>
          </a:p>
        </p:txBody>
      </p:sp>
      <p:sp>
        <p:nvSpPr>
          <p:cNvPr id="19" name="Google Shape;100;p1">
            <a:extLst>
              <a:ext uri="{FF2B5EF4-FFF2-40B4-BE49-F238E27FC236}">
                <a16:creationId xmlns:a16="http://schemas.microsoft.com/office/drawing/2014/main" id="{1A10E8AE-FC50-4BA1-B11B-903C000509E1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173992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4ED5C7F6-998F-1147-91D1-4D037458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A2B497F1-7206-CD4F-8A42-4A09329DE3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526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172624" y="14796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DA852F86-F120-4897-A34F-4919E439A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14" y="1220572"/>
            <a:ext cx="9137046" cy="4864089"/>
          </a:xfrm>
          <a:prstGeom prst="rect">
            <a:avLst/>
          </a:prstGeom>
        </p:spPr>
      </p:pic>
      <p:sp>
        <p:nvSpPr>
          <p:cNvPr id="9" name="Google Shape;100;p1">
            <a:extLst>
              <a:ext uri="{FF2B5EF4-FFF2-40B4-BE49-F238E27FC236}">
                <a16:creationId xmlns:a16="http://schemas.microsoft.com/office/drawing/2014/main" id="{153C7F10-F0B3-4879-8431-878558675B7E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68641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1B9ED547-4A7A-F349-A414-8D2E2DE692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8165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83C9D849-4A56-AD4A-A606-F87C630774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526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179597" y="12360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pic>
        <p:nvPicPr>
          <p:cNvPr id="10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F29FE804-670E-4DB6-AD31-F49425D80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23" y="2556892"/>
            <a:ext cx="10515600" cy="290168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A9BFFE2-76D4-4EEE-9EBE-6414C6493E2C}"/>
              </a:ext>
            </a:extLst>
          </p:cNvPr>
          <p:cNvSpPr txBox="1">
            <a:spLocks/>
          </p:cNvSpPr>
          <p:nvPr/>
        </p:nvSpPr>
        <p:spPr>
          <a:xfrm>
            <a:off x="461291" y="1644114"/>
            <a:ext cx="4784478" cy="343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bg1"/>
                </a:solidFill>
              </a:rPr>
              <a:t>ResNet50 Model Architecture</a:t>
            </a:r>
          </a:p>
        </p:txBody>
      </p:sp>
      <p:sp>
        <p:nvSpPr>
          <p:cNvPr id="19" name="Google Shape;100;p1">
            <a:extLst>
              <a:ext uri="{FF2B5EF4-FFF2-40B4-BE49-F238E27FC236}">
                <a16:creationId xmlns:a16="http://schemas.microsoft.com/office/drawing/2014/main" id="{D81F2B85-4FC3-48D1-9E1E-CB95CDD4D363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481395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A1B60592-5EBD-1942-BDA4-6A1D772495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22633647-2415-D34A-A624-35A740CCB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BA6FAD8E-E791-4774-BBB3-9593BBE18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72" y="3134354"/>
            <a:ext cx="10684764" cy="26035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7E849D0-B2BE-479D-81BE-AF4093DD15C8}"/>
              </a:ext>
            </a:extLst>
          </p:cNvPr>
          <p:cNvSpPr txBox="1">
            <a:spLocks/>
          </p:cNvSpPr>
          <p:nvPr/>
        </p:nvSpPr>
        <p:spPr>
          <a:xfrm>
            <a:off x="602072" y="1567380"/>
            <a:ext cx="3585464" cy="448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Inception V3 Model Architecture</a:t>
            </a:r>
          </a:p>
        </p:txBody>
      </p:sp>
      <p:sp>
        <p:nvSpPr>
          <p:cNvPr id="20" name="Google Shape;100;p1">
            <a:extLst>
              <a:ext uri="{FF2B5EF4-FFF2-40B4-BE49-F238E27FC236}">
                <a16:creationId xmlns:a16="http://schemas.microsoft.com/office/drawing/2014/main" id="{2C1E082F-A1C9-40CD-93B8-6598BC5A25AC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85168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C4D857D6-D6F6-8F48-8C06-282B2DC15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811E24CA-B4F3-0948-93D2-9E6B53CB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Google Shape;100;p1">
            <a:extLst>
              <a:ext uri="{FF2B5EF4-FFF2-40B4-BE49-F238E27FC236}">
                <a16:creationId xmlns:a16="http://schemas.microsoft.com/office/drawing/2014/main" id="{186920B5-D75D-4D96-A546-B250E671A799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3697077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A4F479FE-1DB6-B445-BCBB-BF00616D11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6D725CDA-9DE1-5348-8C4B-421C45F39E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Discussion</a:t>
            </a:r>
          </a:p>
        </p:txBody>
      </p: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0A13E7D9-F852-43B3-8244-99908C757D32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137989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9B728170-08D7-ED42-8F83-11FB2772BD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CE34A388-97EE-5545-866A-7447EEAD9C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FEAEA8ED-1AF7-47FA-AB3C-111BF7B891A4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357905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9E67C880-A11D-F44D-9B6C-7F1EB28E11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C266B0C9-EDCF-D04A-BFA2-E1A2B8A6EE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FC8EF7BA-CDD0-442E-B21C-49DD101231CA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25843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7">
            <a:extLst>
              <a:ext uri="{FF2B5EF4-FFF2-40B4-BE49-F238E27FC236}">
                <a16:creationId xmlns:a16="http://schemas.microsoft.com/office/drawing/2014/main" id="{EDE84C5E-DF3B-C24C-AAD6-2F82030A6ABE}"/>
              </a:ext>
            </a:extLst>
          </p:cNvPr>
          <p:cNvSpPr/>
          <p:nvPr/>
        </p:nvSpPr>
        <p:spPr>
          <a:xfrm rot="10800000" flipH="1">
            <a:off x="-1" y="0"/>
            <a:ext cx="12192000" cy="686616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996F970E-FA6D-194A-A7B6-369BB2EE1D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28BC93BA-1468-2D49-8D6A-DCDB0221B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35709"/>
            <a:ext cx="277906" cy="401420"/>
          </a:xfrm>
          <a:prstGeom prst="rect">
            <a:avLst/>
          </a:prstGeom>
        </p:spPr>
      </p:pic>
      <p:sp>
        <p:nvSpPr>
          <p:cNvPr id="11" name="Google Shape;147;p7">
            <a:extLst>
              <a:ext uri="{FF2B5EF4-FFF2-40B4-BE49-F238E27FC236}">
                <a16:creationId xmlns:a16="http://schemas.microsoft.com/office/drawing/2014/main" id="{E0413B06-A2E6-C746-8C3D-87E15D354737}"/>
              </a:ext>
            </a:extLst>
          </p:cNvPr>
          <p:cNvSpPr txBox="1">
            <a:spLocks/>
          </p:cNvSpPr>
          <p:nvPr/>
        </p:nvSpPr>
        <p:spPr>
          <a:xfrm>
            <a:off x="376807" y="1334279"/>
            <a:ext cx="11177403" cy="349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000"/>
            </a:pP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Summary</a:t>
            </a:r>
          </a:p>
          <a:p>
            <a:pPr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Thank You</a:t>
            </a:r>
          </a:p>
          <a:p>
            <a:pPr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Questions</a:t>
            </a:r>
          </a:p>
          <a:p>
            <a:pPr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Contact Information</a:t>
            </a:r>
          </a:p>
          <a:p>
            <a:pPr>
              <a:buSzPts val="3000"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3000"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3000"/>
            </a:pPr>
            <a:r>
              <a:rPr lang="en-US" sz="1800" dirty="0">
                <a:solidFill>
                  <a:schemeClr val="bg1"/>
                </a:solidFill>
                <a:effectLst/>
              </a:rPr>
              <a:t>Michael Alpas</a:t>
            </a:r>
            <a:r>
              <a:rPr lang="en-US" sz="1800" dirty="0">
                <a:solidFill>
                  <a:schemeClr val="bg1"/>
                </a:solidFill>
                <a:effectLst/>
                <a:ea typeface="+mn-lt"/>
                <a:cs typeface="+mn-lt"/>
              </a:rPr>
              <a:t>, Mohit Singh, Upendra Yadav, Wasique Ahmad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ED0078C6-6650-F54D-BD74-F6DEF7A9D52F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 / Team 1233</a:t>
            </a:r>
          </a:p>
        </p:txBody>
      </p:sp>
    </p:spTree>
    <p:extLst>
      <p:ext uri="{BB962C8B-B14F-4D97-AF65-F5344CB8AC3E}">
        <p14:creationId xmlns:p14="http://schemas.microsoft.com/office/powerpoint/2010/main" val="420909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18875</TotalTime>
  <Words>349</Words>
  <Application>Microsoft Macintosh PowerPoint</Application>
  <PresentationFormat>Widescreen</PresentationFormat>
  <Paragraphs>74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template. Please copy this document before making any edits</dc:title>
  <dc:creator>Nielsen, Joshua</dc:creator>
  <cp:lastModifiedBy>Alpas, Michael Laurente</cp:lastModifiedBy>
  <cp:revision>142</cp:revision>
  <dcterms:created xsi:type="dcterms:W3CDTF">2019-01-14T22:06:33Z</dcterms:created>
  <dcterms:modified xsi:type="dcterms:W3CDTF">2021-05-09T14:45:35Z</dcterms:modified>
</cp:coreProperties>
</file>