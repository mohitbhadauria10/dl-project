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314" r:id="rId2"/>
    <p:sldId id="277" r:id="rId3"/>
    <p:sldId id="315" r:id="rId4"/>
    <p:sldId id="316" r:id="rId5"/>
    <p:sldId id="317" r:id="rId6"/>
    <p:sldId id="306" r:id="rId7"/>
    <p:sldId id="307" r:id="rId8"/>
    <p:sldId id="308" r:id="rId9"/>
    <p:sldId id="309" r:id="rId10"/>
    <p:sldId id="310" r:id="rId11"/>
    <p:sldId id="318" r:id="rId12"/>
    <p:sldId id="311" r:id="rId13"/>
    <p:sldId id="313" r:id="rId14"/>
    <p:sldId id="29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35" roundtripDataSignature="AMtx7mhSaRiTD9uDhGJ3nUfwohnl+c0Rs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it bhadauria" initials="mb" lastIdx="1" clrIdx="0">
    <p:extLst>
      <p:ext uri="{19B8F6BF-5375-455C-9EA6-DF929625EA0E}">
        <p15:presenceInfo xmlns:p15="http://schemas.microsoft.com/office/powerpoint/2012/main" userId="202277163da5038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94B"/>
    <a:srgbClr val="15264B"/>
    <a:srgbClr val="1B4284"/>
    <a:srgbClr val="E84B36"/>
    <a:srgbClr val="FA5738"/>
    <a:srgbClr val="FF552E"/>
    <a:srgbClr val="0E2248"/>
    <a:srgbClr val="0E2E5A"/>
    <a:srgbClr val="0B1A53"/>
    <a:srgbClr val="030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19"/>
    <p:restoredTop sz="94694"/>
  </p:normalViewPr>
  <p:slideViewPr>
    <p:cSldViewPr snapToGrid="0" snapToObjects="1">
      <p:cViewPr varScale="1">
        <p:scale>
          <a:sx n="108" d="100"/>
          <a:sy n="108" d="100"/>
        </p:scale>
        <p:origin x="12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5435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8369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3476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64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usyadav2@illinois.edu" TargetMode="External"/><Relationship Id="rId3" Type="http://schemas.openxmlformats.org/officeDocument/2006/relationships/image" Target="../media/image1.jpg"/><Relationship Id="rId7" Type="http://schemas.openxmlformats.org/officeDocument/2006/relationships/hyperlink" Target="mailto:mohits3@illinoi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wasique2@illinois.edu" TargetMode="External"/><Relationship Id="rId5" Type="http://schemas.openxmlformats.org/officeDocument/2006/relationships/hyperlink" Target="mailto:malpas2@illinois.edu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8-020-76550-z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doi.org/10.1023/A:1014858517172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i.org/10.1016/j.procs.2018.05.069" TargetMode="External"/><Relationship Id="rId5" Type="http://schemas.openxmlformats.org/officeDocument/2006/relationships/hyperlink" Target="https://doi.org/10.1177%2F2472630320958376" TargetMode="External"/><Relationship Id="rId4" Type="http://schemas.openxmlformats.org/officeDocument/2006/relationships/hyperlink" Target="https://doi.org/10.1038/s42256-021-00307-0" TargetMode="External"/><Relationship Id="rId9" Type="http://schemas.openxmlformats.org/officeDocument/2006/relationships/hyperlink" Target="https://doi.org/10.3389/fmed.2020.00427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5;p7">
            <a:extLst>
              <a:ext uri="{FF2B5EF4-FFF2-40B4-BE49-F238E27FC236}">
                <a16:creationId xmlns:a16="http://schemas.microsoft.com/office/drawing/2014/main" id="{001E8A82-2D09-8A40-AB15-BEA76228B6A2}"/>
              </a:ext>
            </a:extLst>
          </p:cNvPr>
          <p:cNvSpPr/>
          <p:nvPr/>
        </p:nvSpPr>
        <p:spPr>
          <a:xfrm rot="10800000" flipH="1">
            <a:off x="-1" y="0"/>
            <a:ext cx="12192000" cy="686616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DF7902D4-540E-464A-BEC7-4711C02B37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4" name="Google Shape;97;p1">
            <a:extLst>
              <a:ext uri="{FF2B5EF4-FFF2-40B4-BE49-F238E27FC236}">
                <a16:creationId xmlns:a16="http://schemas.microsoft.com/office/drawing/2014/main" id="{6EE6B1E5-9B9E-FD48-9F48-627803FDB7F5}"/>
              </a:ext>
            </a:extLst>
          </p:cNvPr>
          <p:cNvSpPr txBox="1"/>
          <p:nvPr/>
        </p:nvSpPr>
        <p:spPr>
          <a:xfrm>
            <a:off x="1303806" y="468122"/>
            <a:ext cx="9923929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ea typeface="+mj-lt"/>
                <a:cs typeface="+mj-lt"/>
              </a:rPr>
              <a:t>COVID 19 Detection Through Radiograph Images </a:t>
            </a:r>
            <a:br>
              <a:rPr lang="en-US" sz="3200" b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sz="3200" b="1" dirty="0">
                <a:solidFill>
                  <a:schemeClr val="bg1"/>
                </a:solidFill>
                <a:ea typeface="+mj-lt"/>
                <a:cs typeface="+mj-lt"/>
              </a:rPr>
              <a:t>Using Deep Learning Algorithm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8FBAA0E1-3AE3-CC42-A2EA-C66D0BE98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4240" y="6129789"/>
            <a:ext cx="2075966" cy="5379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D9D5D0-1DF8-694A-A8DE-80E52C81F1DC}"/>
              </a:ext>
            </a:extLst>
          </p:cNvPr>
          <p:cNvSpPr txBox="1"/>
          <p:nvPr/>
        </p:nvSpPr>
        <p:spPr>
          <a:xfrm>
            <a:off x="4152094" y="2368516"/>
            <a:ext cx="61366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FFFFFF"/>
                </a:solidFill>
              </a:rPr>
              <a:t>Alpas</a:t>
            </a:r>
            <a:r>
              <a:rPr lang="en-US" sz="1800" dirty="0">
                <a:solidFill>
                  <a:srgbClr val="FFFFFF"/>
                </a:solidFill>
              </a:rPr>
              <a:t>, Michael (</a:t>
            </a:r>
            <a:r>
              <a:rPr lang="en-US" sz="1800" dirty="0">
                <a:solidFill>
                  <a:srgbClr val="FFFFFF"/>
                </a:solidFill>
                <a:hlinkClick r:id="rId5"/>
              </a:rPr>
              <a:t>malpas2@illinois.edu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Ahmad, </a:t>
            </a:r>
            <a:r>
              <a:rPr lang="en-US" sz="1800" dirty="0" err="1">
                <a:solidFill>
                  <a:srgbClr val="FFFFFF"/>
                </a:solidFill>
              </a:rPr>
              <a:t>Wasique</a:t>
            </a:r>
            <a:r>
              <a:rPr lang="en-US" sz="1800" dirty="0">
                <a:solidFill>
                  <a:srgbClr val="FFFFFF"/>
                </a:solidFill>
              </a:rPr>
              <a:t> (</a:t>
            </a:r>
            <a:r>
              <a:rPr lang="en-US" sz="1800" dirty="0">
                <a:solidFill>
                  <a:srgbClr val="FFFFFF"/>
                </a:solidFill>
                <a:hlinkClick r:id="rId6"/>
              </a:rPr>
              <a:t>wasique2@illinois.edu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Singh, Mohit (</a:t>
            </a:r>
            <a:r>
              <a:rPr lang="en-US" sz="1800" dirty="0">
                <a:solidFill>
                  <a:srgbClr val="FFFFFF"/>
                </a:solidFill>
                <a:hlinkClick r:id="rId7"/>
              </a:rPr>
              <a:t>mohits3@illinois.edu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Yadav, Upendra Singh (</a:t>
            </a:r>
            <a:r>
              <a:rPr lang="en-US" sz="1800" dirty="0">
                <a:solidFill>
                  <a:srgbClr val="FFFFFF"/>
                </a:solidFill>
                <a:hlinkClick r:id="rId8"/>
              </a:rPr>
              <a:t>usyadav2@illinois.edu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11" name="Google Shape;125;p4">
            <a:extLst>
              <a:ext uri="{FF2B5EF4-FFF2-40B4-BE49-F238E27FC236}">
                <a16:creationId xmlns:a16="http://schemas.microsoft.com/office/drawing/2014/main" id="{FB33901B-8907-844A-A3BC-CA61E0FB18BD}"/>
              </a:ext>
            </a:extLst>
          </p:cNvPr>
          <p:cNvSpPr/>
          <p:nvPr/>
        </p:nvSpPr>
        <p:spPr>
          <a:xfrm>
            <a:off x="3853355" y="2143764"/>
            <a:ext cx="118570" cy="2696274"/>
          </a:xfrm>
          <a:prstGeom prst="rect">
            <a:avLst/>
          </a:prstGeom>
          <a:solidFill>
            <a:srgbClr val="FF55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38340-037C-D448-BADC-C54CF9BC129F}"/>
              </a:ext>
            </a:extLst>
          </p:cNvPr>
          <p:cNvSpPr txBox="1"/>
          <p:nvPr/>
        </p:nvSpPr>
        <p:spPr>
          <a:xfrm>
            <a:off x="1533973" y="3175555"/>
            <a:ext cx="2024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Team 1233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61D13-A7C5-EC49-98E6-023CBBEB1972}"/>
              </a:ext>
            </a:extLst>
          </p:cNvPr>
          <p:cNvSpPr txBox="1"/>
          <p:nvPr/>
        </p:nvSpPr>
        <p:spPr>
          <a:xfrm>
            <a:off x="1533973" y="5391125"/>
            <a:ext cx="620554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Course	:   CS 598 Deep Learning for Health Care – Spring 2021</a:t>
            </a:r>
          </a:p>
          <a:p>
            <a:r>
              <a:rPr lang="en-US" sz="1600" dirty="0">
                <a:solidFill>
                  <a:schemeClr val="bg1"/>
                </a:solidFill>
              </a:rPr>
              <a:t>Professor	:   </a:t>
            </a:r>
            <a:r>
              <a:rPr lang="en-US" sz="1600" dirty="0" err="1">
                <a:solidFill>
                  <a:schemeClr val="bg1"/>
                </a:solidFill>
                <a:ea typeface="+mn-lt"/>
                <a:cs typeface="+mn-lt"/>
              </a:rPr>
              <a:t>Jimeng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Sun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1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0E29CB21-E692-D140-A346-BBEF5BBD2C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DBD98685-E6DB-4548-992F-86EFC1B6F030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5264B"/>
          </a:solidFill>
          <a:ln>
            <a:noFill/>
          </a:ln>
          <a:effectLst>
            <a:glow>
              <a:schemeClr val="accent1"/>
            </a:glo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5C485F8-53F2-BD48-9D7B-D5B2FD5D6C0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818745B6-76BD-F141-A42C-4752F0661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8BD31E2B-72C7-9D4E-A895-6763E2548FC1}"/>
              </a:ext>
            </a:extLst>
          </p:cNvPr>
          <p:cNvSpPr txBox="1"/>
          <p:nvPr/>
        </p:nvSpPr>
        <p:spPr>
          <a:xfrm>
            <a:off x="177308" y="102827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E703-63E3-4313-8947-FC188D68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8299"/>
            <a:ext cx="10515600" cy="4948664"/>
          </a:xfrm>
        </p:spPr>
        <p:txBody>
          <a:bodyPr>
            <a:norm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Project Introduction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Methods and Approaches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Results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Optimization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Discussion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References</a:t>
            </a:r>
          </a:p>
          <a:p>
            <a:endParaRPr lang="en-US" dirty="0"/>
          </a:p>
        </p:txBody>
      </p:sp>
      <p:sp>
        <p:nvSpPr>
          <p:cNvPr id="14" name="Google Shape;100;p1">
            <a:extLst>
              <a:ext uri="{FF2B5EF4-FFF2-40B4-BE49-F238E27FC236}">
                <a16:creationId xmlns:a16="http://schemas.microsoft.com/office/drawing/2014/main" id="{0483B9DF-0128-4942-847C-02A5B10A510B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492365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0E29CB21-E692-D140-A346-BBEF5BBD2C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432AB278-B74A-2046-BAFE-4E0BCAFA34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DBD98685-E6DB-4548-992F-86EFC1B6F030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5C485F8-53F2-BD48-9D7B-D5B2FD5D6C0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818745B6-76BD-F141-A42C-4752F0661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8BD31E2B-72C7-9D4E-A895-6763E2548FC1}"/>
              </a:ext>
            </a:extLst>
          </p:cNvPr>
          <p:cNvSpPr txBox="1"/>
          <p:nvPr/>
        </p:nvSpPr>
        <p:spPr>
          <a:xfrm>
            <a:off x="177308" y="102827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E703-63E3-4313-8947-FC188D68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8299"/>
            <a:ext cx="10782670" cy="494866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Background</a:t>
            </a:r>
            <a:endParaRPr lang="en-US" sz="2000" dirty="0">
              <a:solidFill>
                <a:schemeClr val="bg1"/>
              </a:solidFill>
              <a:latin typeface="Arial"/>
              <a:ea typeface="+mn-lt"/>
              <a:cs typeface="+mn-lt"/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Motivated by earlier works from fellow students, professors and medical professionals 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Applied Convolutional Neural Network using </a:t>
            </a:r>
            <a:r>
              <a:rPr lang="en-US" sz="2000" dirty="0" err="1">
                <a:solidFill>
                  <a:schemeClr val="bg1"/>
                </a:solidFill>
                <a:latin typeface="Arial"/>
                <a:cs typeface="Arial"/>
              </a:rPr>
              <a:t>PyTorch</a:t>
            </a: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 framework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Cloud computing platform: AWS Services (SageMaker, S3, Lambda)</a:t>
            </a:r>
          </a:p>
          <a:p>
            <a:pPr marL="114300" indent="0">
              <a:buNone/>
            </a:pPr>
            <a:endParaRPr lang="en-US" sz="2400" b="1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Objective:</a:t>
            </a:r>
          </a:p>
          <a:p>
            <a:pPr lvl="1" algn="just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To apply DL algorithms which we learned from our class to possibly detect COVID-19</a:t>
            </a:r>
          </a:p>
          <a:p>
            <a:pPr lvl="1" algn="just"/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Our aspiration is to learn and expand the knowledge of Deep learning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14" name="Google Shape;100;p1">
            <a:extLst>
              <a:ext uri="{FF2B5EF4-FFF2-40B4-BE49-F238E27FC236}">
                <a16:creationId xmlns:a16="http://schemas.microsoft.com/office/drawing/2014/main" id="{0483B9DF-0128-4942-847C-02A5B10A510B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007195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0E29CB21-E692-D140-A346-BBEF5BBD2C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432AB278-B74A-2046-BAFE-4E0BCAFA34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DBD98685-E6DB-4548-992F-86EFC1B6F030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5C485F8-53F2-BD48-9D7B-D5B2FD5D6C0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818745B6-76BD-F141-A42C-4752F0661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8BD31E2B-72C7-9D4E-A895-6763E2548FC1}"/>
              </a:ext>
            </a:extLst>
          </p:cNvPr>
          <p:cNvSpPr txBox="1"/>
          <p:nvPr/>
        </p:nvSpPr>
        <p:spPr>
          <a:xfrm>
            <a:off x="177308" y="102827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E703-63E3-4313-8947-FC188D68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8299"/>
            <a:ext cx="10515600" cy="4948664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Arial"/>
                <a:cs typeface="Arial"/>
              </a:rPr>
              <a:t>Dataset</a:t>
            </a:r>
            <a:endParaRPr lang="en-US" sz="2400" b="1" dirty="0">
              <a:solidFill>
                <a:schemeClr val="bg1"/>
              </a:solidFill>
              <a:latin typeface="Arial"/>
              <a:cs typeface="Arial"/>
            </a:endParaRPr>
          </a:p>
          <a:p>
            <a:endParaRPr lang="en-US" sz="24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Used iee8023 data set (https://</a:t>
            </a:r>
            <a:r>
              <a:rPr lang="en-US" sz="2000" dirty="0" err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github.com</a:t>
            </a:r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/ieee8023/covid-</a:t>
            </a:r>
            <a:r>
              <a:rPr lang="en-US" sz="2000" dirty="0" err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chestxray</a:t>
            </a:r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-dataset)</a:t>
            </a:r>
          </a:p>
          <a:p>
            <a:pPr lvl="2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Public open dataset of chest x-ray and CT Images of patients positive or suspected of Covid-19. [2]</a:t>
            </a:r>
          </a:p>
          <a:p>
            <a:pPr lvl="2"/>
            <a:endParaRPr lang="en-US" sz="2000" dirty="0">
              <a:solidFill>
                <a:schemeClr val="bg1"/>
              </a:solidFill>
              <a:latin typeface="Arial"/>
              <a:ea typeface="+mn-lt"/>
              <a:cs typeface="+mn-lt"/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Xray Image dataset from Ozturk and Covid-19 Kaggle Dataset [3] </a:t>
            </a:r>
          </a:p>
          <a:p>
            <a:pPr marL="1028700" lvl="2" indent="0">
              <a:buNone/>
            </a:pPr>
            <a:endParaRPr lang="en-US" dirty="0">
              <a:solidFill>
                <a:schemeClr val="bg1"/>
              </a:solidFill>
              <a:latin typeface="Arial"/>
              <a:ea typeface="+mn-lt"/>
              <a:cs typeface="+mn-lt"/>
            </a:endParaRPr>
          </a:p>
          <a:p>
            <a:pPr lvl="1"/>
            <a:r>
              <a:rPr lang="en-US" sz="2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Total Images in combined Dataset</a:t>
            </a:r>
          </a:p>
          <a:p>
            <a:pPr lvl="2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4412 – Chest X-ray Images which contains –</a:t>
            </a:r>
          </a:p>
          <a:p>
            <a:pPr lvl="2"/>
            <a:r>
              <a:rPr lang="en-US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1851 – Normal X-rays</a:t>
            </a:r>
          </a:p>
          <a:p>
            <a:pPr lvl="2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1863 – Pneumonia </a:t>
            </a:r>
          </a:p>
          <a:p>
            <a:pPr lvl="2"/>
            <a:r>
              <a:rPr lang="en-US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698 – COVID-19</a:t>
            </a:r>
            <a:endParaRPr lang="en-US" sz="2000" dirty="0">
              <a:solidFill>
                <a:schemeClr val="bg1"/>
              </a:solidFill>
              <a:latin typeface="Arial"/>
              <a:ea typeface="+mn-lt"/>
              <a:cs typeface="+mn-lt"/>
            </a:endParaRPr>
          </a:p>
          <a:p>
            <a:pPr marL="1028700" lvl="2" indent="0">
              <a:buNone/>
            </a:pPr>
            <a:endParaRPr lang="en-US" sz="2000" dirty="0">
              <a:solidFill>
                <a:schemeClr val="bg1"/>
              </a:solidFill>
              <a:latin typeface="Arial"/>
              <a:ea typeface="+mn-lt"/>
              <a:cs typeface="+mn-lt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COVID-19 Detection Model:</a:t>
            </a:r>
          </a:p>
          <a:p>
            <a:pPr lvl="1" algn="just"/>
            <a:r>
              <a:rPr lang="en-US" sz="20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Split 70% training, 20% test and 10% validation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14" name="Google Shape;100;p1">
            <a:extLst>
              <a:ext uri="{FF2B5EF4-FFF2-40B4-BE49-F238E27FC236}">
                <a16:creationId xmlns:a16="http://schemas.microsoft.com/office/drawing/2014/main" id="{0483B9DF-0128-4942-847C-02A5B10A510B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17906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4ED5C7F6-998F-1147-91D1-4D037458E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A2B497F1-7206-CD4F-8A42-4A09329DE3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526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172624" y="14796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Methods and Approaches</a:t>
            </a:r>
          </a:p>
        </p:txBody>
      </p:sp>
      <p:sp>
        <p:nvSpPr>
          <p:cNvPr id="9" name="Google Shape;100;p1">
            <a:extLst>
              <a:ext uri="{FF2B5EF4-FFF2-40B4-BE49-F238E27FC236}">
                <a16:creationId xmlns:a16="http://schemas.microsoft.com/office/drawing/2014/main" id="{153C7F10-F0B3-4879-8431-878558675B7E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23DF3-239E-4190-924C-84285B9CB46C}"/>
              </a:ext>
            </a:extLst>
          </p:cNvPr>
          <p:cNvSpPr txBox="1"/>
          <p:nvPr/>
        </p:nvSpPr>
        <p:spPr>
          <a:xfrm>
            <a:off x="557813" y="2030351"/>
            <a:ext cx="954550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sym typeface="Calibri"/>
              </a:rPr>
              <a:t>Image Resizing</a:t>
            </a:r>
          </a:p>
          <a:p>
            <a:pPr lvl="5"/>
            <a:r>
              <a:rPr lang="en-US" sz="1200" dirty="0">
                <a:solidFill>
                  <a:schemeClr val="bg1"/>
                </a:solidFill>
                <a:sym typeface="Calibri"/>
              </a:rPr>
              <a:t>	</a:t>
            </a:r>
            <a:r>
              <a:rPr lang="en-US" sz="2000" dirty="0">
                <a:solidFill>
                  <a:schemeClr val="bg1"/>
                </a:solidFill>
                <a:sym typeface="Calibri"/>
              </a:rPr>
              <a:t>- ResNet50 Model (Resizing Image in 224*224)</a:t>
            </a:r>
          </a:p>
          <a:p>
            <a:pPr lvl="5"/>
            <a:r>
              <a:rPr lang="en-US" sz="2000" dirty="0">
                <a:solidFill>
                  <a:schemeClr val="bg1"/>
                </a:solidFill>
                <a:sym typeface="Calibri"/>
              </a:rPr>
              <a:t>	- InceptionV3 Model (Resizing Image in 299*299)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sym typeface="Calibri"/>
              </a:rPr>
              <a:t>Normalization and Conversion of Images in-to multi-dimensional tensors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305A9-9863-47E5-9DFF-398021431229}"/>
              </a:ext>
            </a:extLst>
          </p:cNvPr>
          <p:cNvSpPr txBox="1"/>
          <p:nvPr/>
        </p:nvSpPr>
        <p:spPr>
          <a:xfrm>
            <a:off x="376807" y="1256379"/>
            <a:ext cx="317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Data Pre-Processing</a:t>
            </a:r>
          </a:p>
        </p:txBody>
      </p:sp>
    </p:spTree>
    <p:extLst>
      <p:ext uri="{BB962C8B-B14F-4D97-AF65-F5344CB8AC3E}">
        <p14:creationId xmlns:p14="http://schemas.microsoft.com/office/powerpoint/2010/main" val="1999168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4ED5C7F6-998F-1147-91D1-4D037458E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A2B497F1-7206-CD4F-8A42-4A09329DE3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526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172624" y="14796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Methods and Approaches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DA852F86-F120-4897-A34F-4919E439A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918" y="1673347"/>
            <a:ext cx="8054838" cy="4379403"/>
          </a:xfrm>
          <a:prstGeom prst="rect">
            <a:avLst/>
          </a:prstGeom>
        </p:spPr>
      </p:pic>
      <p:sp>
        <p:nvSpPr>
          <p:cNvPr id="9" name="Google Shape;100;p1">
            <a:extLst>
              <a:ext uri="{FF2B5EF4-FFF2-40B4-BE49-F238E27FC236}">
                <a16:creationId xmlns:a16="http://schemas.microsoft.com/office/drawing/2014/main" id="{153C7F10-F0B3-4879-8431-878558675B7E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23DF3-239E-4190-924C-84285B9CB46C}"/>
              </a:ext>
            </a:extLst>
          </p:cNvPr>
          <p:cNvSpPr txBox="1"/>
          <p:nvPr/>
        </p:nvSpPr>
        <p:spPr>
          <a:xfrm>
            <a:off x="282605" y="1862135"/>
            <a:ext cx="32507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Calibri"/>
              </a:rPr>
              <a:t>Client Application (Angular.js)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Calibri"/>
              </a:rPr>
              <a:t>Amazon API Gateway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Calibri"/>
              </a:rPr>
              <a:t>AWS Lambda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Calibri"/>
              </a:rPr>
              <a:t>AWS SageMaker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Calibri"/>
              </a:rPr>
              <a:t>Amazon S3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Calibri"/>
              </a:rPr>
              <a:t>Trained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sym typeface="Calibri"/>
            </a:endParaRPr>
          </a:p>
          <a:p>
            <a:r>
              <a:rPr lang="en-US" sz="1600" dirty="0">
                <a:solidFill>
                  <a:schemeClr val="bg1"/>
                </a:solidFill>
                <a:sym typeface="Calibri"/>
              </a:rPr>
              <a:t>	- InceptionV3</a:t>
            </a:r>
          </a:p>
          <a:p>
            <a:endParaRPr lang="en-US" sz="1600" dirty="0">
              <a:solidFill>
                <a:schemeClr val="bg1"/>
              </a:solidFill>
              <a:sym typeface="Calibri"/>
            </a:endParaRPr>
          </a:p>
          <a:p>
            <a:r>
              <a:rPr lang="en-US" sz="1600" dirty="0">
                <a:solidFill>
                  <a:schemeClr val="bg1"/>
                </a:solidFill>
                <a:sym typeface="Calibri"/>
              </a:rPr>
              <a:t>	- ResNet50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305A9-9863-47E5-9DFF-398021431229}"/>
              </a:ext>
            </a:extLst>
          </p:cNvPr>
          <p:cNvSpPr txBox="1"/>
          <p:nvPr/>
        </p:nvSpPr>
        <p:spPr>
          <a:xfrm>
            <a:off x="562186" y="1166563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High Level 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268641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D907FF7A-4780-B34F-8508-762623E24E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536DA9B3-9D0F-5742-97A2-5CB36A119D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155429" y="165158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Methods and Approaches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4A35E5-93C1-4A05-9BE6-FF454E63436F}"/>
              </a:ext>
            </a:extLst>
          </p:cNvPr>
          <p:cNvSpPr txBox="1">
            <a:spLocks/>
          </p:cNvSpPr>
          <p:nvPr/>
        </p:nvSpPr>
        <p:spPr>
          <a:xfrm>
            <a:off x="716280" y="1991199"/>
            <a:ext cx="10620504" cy="376199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j-lt"/>
                <a:sym typeface="Calibri"/>
              </a:rPr>
              <a:t>Client Application (Angular.js) </a:t>
            </a:r>
            <a:r>
              <a:rPr lang="en-US" sz="2000" dirty="0">
                <a:solidFill>
                  <a:schemeClr val="bg1"/>
                </a:solidFill>
                <a:latin typeface="+mj-lt"/>
                <a:sym typeface="Calibri"/>
              </a:rPr>
              <a:t>– Helps external user to upload any Chest Xray.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+mj-lt"/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j-lt"/>
                <a:sym typeface="Calibri"/>
              </a:rPr>
              <a:t>Amazon API Gateway -  </a:t>
            </a:r>
            <a:r>
              <a:rPr lang="en-US" sz="2000" dirty="0">
                <a:solidFill>
                  <a:schemeClr val="bg1"/>
                </a:solidFill>
                <a:latin typeface="+mj-lt"/>
                <a:sym typeface="Calibri"/>
              </a:rPr>
              <a:t>Exposes REST API to be consumed by any third-party client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+mj-lt"/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j-lt"/>
                <a:sym typeface="Calibri"/>
              </a:rPr>
              <a:t>AWS Lambda – </a:t>
            </a:r>
            <a:r>
              <a:rPr lang="en-US" sz="2000" dirty="0">
                <a:solidFill>
                  <a:schemeClr val="bg1"/>
                </a:solidFill>
                <a:latin typeface="+mj-lt"/>
                <a:sym typeface="Calibri"/>
              </a:rPr>
              <a:t>Together with API Gateway, helps to expose model’s end point to external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+mj-lt"/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j-lt"/>
                <a:sym typeface="Calibri"/>
              </a:rPr>
              <a:t>Amazon S3 – </a:t>
            </a:r>
            <a:r>
              <a:rPr lang="en-US" sz="2000" dirty="0">
                <a:solidFill>
                  <a:schemeClr val="bg1"/>
                </a:solidFill>
                <a:latin typeface="+mj-lt"/>
                <a:sym typeface="Calibri"/>
              </a:rPr>
              <a:t>Is used to store the dataset (images) needed for training, along with the trained models ready for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+mj-lt"/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j-lt"/>
                <a:sym typeface="Calibri"/>
              </a:rPr>
              <a:t>Amazon SageMaker – </a:t>
            </a:r>
            <a:r>
              <a:rPr lang="en-US" sz="2000" dirty="0">
                <a:solidFill>
                  <a:schemeClr val="bg1"/>
                </a:solidFill>
                <a:latin typeface="+mj-lt"/>
                <a:sym typeface="Calibri"/>
              </a:rPr>
              <a:t> Is used to prepare, build, train and deploy machine learning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  <a:latin typeface="+mj-lt"/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+mj-lt"/>
                <a:sym typeface="Calibri"/>
              </a:rPr>
              <a:t>Trained Models – </a:t>
            </a:r>
            <a:r>
              <a:rPr lang="en-US" sz="2000" dirty="0">
                <a:solidFill>
                  <a:schemeClr val="bg1"/>
                </a:solidFill>
                <a:latin typeface="+mj-lt"/>
                <a:sym typeface="Calibri"/>
              </a:rPr>
              <a:t>Inception V3 and ResNet50</a:t>
            </a:r>
          </a:p>
          <a:p>
            <a:endParaRPr lang="en-US" sz="2000" dirty="0">
              <a:latin typeface="+mj-lt"/>
              <a:ea typeface="+mn-lt"/>
              <a:cs typeface="+mn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0E4C8F-7C59-4DFB-9739-2296853DC85D}"/>
              </a:ext>
            </a:extLst>
          </p:cNvPr>
          <p:cNvSpPr txBox="1"/>
          <p:nvPr/>
        </p:nvSpPr>
        <p:spPr>
          <a:xfrm>
            <a:off x="777239" y="1090379"/>
            <a:ext cx="7831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j-lt"/>
              </a:rPr>
              <a:t>Model Development Cycle and its Components</a:t>
            </a:r>
            <a:endParaRPr lang="en-US" sz="2400" b="1" dirty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" name="Google Shape;100;p1">
            <a:extLst>
              <a:ext uri="{FF2B5EF4-FFF2-40B4-BE49-F238E27FC236}">
                <a16:creationId xmlns:a16="http://schemas.microsoft.com/office/drawing/2014/main" id="{1A10E8AE-FC50-4BA1-B11B-903C000509E1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1739928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1B9ED547-4A7A-F349-A414-8D2E2DE692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8165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9" name="Picture 8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83C9D849-4A56-AD4A-A606-F87C630774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526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179597" y="12360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Methods and Approaches</a:t>
            </a:r>
          </a:p>
        </p:txBody>
      </p:sp>
      <p:pic>
        <p:nvPicPr>
          <p:cNvPr id="10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F29FE804-670E-4DB6-AD31-F49425D80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421" y="3861379"/>
            <a:ext cx="7601356" cy="209752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A9BFFE2-76D4-4EEE-9EBE-6414C6493E2C}"/>
              </a:ext>
            </a:extLst>
          </p:cNvPr>
          <p:cNvSpPr txBox="1">
            <a:spLocks/>
          </p:cNvSpPr>
          <p:nvPr/>
        </p:nvSpPr>
        <p:spPr>
          <a:xfrm>
            <a:off x="458086" y="1358283"/>
            <a:ext cx="11374029" cy="24002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ResNet50 Model Architecture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50 Layer deep classic neural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Resnet50 Model is effective in solving the issue of diminishing gradient.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Uses Skip Connection to pass the residuals to next layer and hence enhances the detection of smaller objects. 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Google Shape;100;p1">
            <a:extLst>
              <a:ext uri="{FF2B5EF4-FFF2-40B4-BE49-F238E27FC236}">
                <a16:creationId xmlns:a16="http://schemas.microsoft.com/office/drawing/2014/main" id="{D81F2B85-4FC3-48D1-9E1E-CB95CDD4D363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</p:spTree>
    <p:extLst>
      <p:ext uri="{BB962C8B-B14F-4D97-AF65-F5344CB8AC3E}">
        <p14:creationId xmlns:p14="http://schemas.microsoft.com/office/powerpoint/2010/main" val="248139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A1B60592-5EBD-1942-BDA4-6A1D772495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9" name="Picture 8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22633647-2415-D34A-A624-35A740CCB5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2170" y="-294646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Methods and Approaches</a:t>
            </a:r>
          </a:p>
        </p:txBody>
      </p:sp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BA6FAD8E-E791-4774-BBB3-9593BBE18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460" y="4471538"/>
            <a:ext cx="6857076" cy="1670828"/>
          </a:xfrm>
          <a:prstGeom prst="rect">
            <a:avLst/>
          </a:prstGeom>
        </p:spPr>
      </p:pic>
      <p:sp>
        <p:nvSpPr>
          <p:cNvPr id="20" name="Google Shape;100;p1">
            <a:extLst>
              <a:ext uri="{FF2B5EF4-FFF2-40B4-BE49-F238E27FC236}">
                <a16:creationId xmlns:a16="http://schemas.microsoft.com/office/drawing/2014/main" id="{2C1E082F-A1C9-40CD-93B8-6598BC5A25AC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CD0E8-B540-4059-9F18-D0C52EDB0324}"/>
              </a:ext>
            </a:extLst>
          </p:cNvPr>
          <p:cNvSpPr txBox="1"/>
          <p:nvPr/>
        </p:nvSpPr>
        <p:spPr>
          <a:xfrm>
            <a:off x="447040" y="1074515"/>
            <a:ext cx="108397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InceptionV3 Model Architecture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Convolutional Neural Network which helps in analysis, classification and detection of finer objects of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Developed by Google Net community in Google.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Computationally efficient (both in terms of number of parameters generated by the network and computer hardware resources such as memory and CPU utilization).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	- Uses Factorized Convolutions (helps in reducing computational efficiency), </a:t>
            </a:r>
          </a:p>
          <a:p>
            <a:r>
              <a:rPr lang="en-US" sz="1600" dirty="0">
                <a:solidFill>
                  <a:schemeClr val="bg1"/>
                </a:solidFill>
              </a:rPr>
              <a:t>	- Uses Smaller Convolutions (replaces bigger convolutions to smaller convolutions),</a:t>
            </a:r>
          </a:p>
          <a:p>
            <a:r>
              <a:rPr lang="en-US" sz="1600" dirty="0">
                <a:solidFill>
                  <a:schemeClr val="bg1"/>
                </a:solidFill>
              </a:rPr>
              <a:t>	- Dimension Reduction and parallel computations.</a:t>
            </a:r>
          </a:p>
        </p:txBody>
      </p:sp>
    </p:spTree>
    <p:extLst>
      <p:ext uri="{BB962C8B-B14F-4D97-AF65-F5344CB8AC3E}">
        <p14:creationId xmlns:p14="http://schemas.microsoft.com/office/powerpoint/2010/main" val="85168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C4D857D6-D6F6-8F48-8C06-282B2DC154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7" name="Picture 6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811E24CA-B4F3-0948-93D2-9E6B53CBA8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Google Shape;100;p1">
            <a:extLst>
              <a:ext uri="{FF2B5EF4-FFF2-40B4-BE49-F238E27FC236}">
                <a16:creationId xmlns:a16="http://schemas.microsoft.com/office/drawing/2014/main" id="{186920B5-D75D-4D96-A546-B250E671A799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29DC3F5-B833-4DC4-BA66-9870FC9AD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505495"/>
              </p:ext>
            </p:extLst>
          </p:nvPr>
        </p:nvGraphicFramePr>
        <p:xfrm>
          <a:off x="1235968" y="1950442"/>
          <a:ext cx="8859535" cy="2961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907">
                  <a:extLst>
                    <a:ext uri="{9D8B030D-6E8A-4147-A177-3AD203B41FA5}">
                      <a16:colId xmlns:a16="http://schemas.microsoft.com/office/drawing/2014/main" val="1883435169"/>
                    </a:ext>
                  </a:extLst>
                </a:gridCol>
                <a:gridCol w="1771907">
                  <a:extLst>
                    <a:ext uri="{9D8B030D-6E8A-4147-A177-3AD203B41FA5}">
                      <a16:colId xmlns:a16="http://schemas.microsoft.com/office/drawing/2014/main" val="1092084821"/>
                    </a:ext>
                  </a:extLst>
                </a:gridCol>
                <a:gridCol w="1771907">
                  <a:extLst>
                    <a:ext uri="{9D8B030D-6E8A-4147-A177-3AD203B41FA5}">
                      <a16:colId xmlns:a16="http://schemas.microsoft.com/office/drawing/2014/main" val="2119754871"/>
                    </a:ext>
                  </a:extLst>
                </a:gridCol>
                <a:gridCol w="1771907">
                  <a:extLst>
                    <a:ext uri="{9D8B030D-6E8A-4147-A177-3AD203B41FA5}">
                      <a16:colId xmlns:a16="http://schemas.microsoft.com/office/drawing/2014/main" val="3926061321"/>
                    </a:ext>
                  </a:extLst>
                </a:gridCol>
                <a:gridCol w="1771907">
                  <a:extLst>
                    <a:ext uri="{9D8B030D-6E8A-4147-A177-3AD203B41FA5}">
                      <a16:colId xmlns:a16="http://schemas.microsoft.com/office/drawing/2014/main" val="539934560"/>
                    </a:ext>
                  </a:extLst>
                </a:gridCol>
              </a:tblGrid>
              <a:tr h="592385">
                <a:tc>
                  <a:txBody>
                    <a:bodyPr/>
                    <a:lstStyle/>
                    <a:p>
                      <a:r>
                        <a:rPr lang="en-US" dirty="0"/>
                        <a:t>Model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(For COVID Images)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 (For COVID Images)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 (For COVID Images)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446739"/>
                  </a:ext>
                </a:extLst>
              </a:tr>
              <a:tr h="592385">
                <a:tc>
                  <a:txBody>
                    <a:bodyPr/>
                    <a:lstStyle/>
                    <a:p>
                      <a:r>
                        <a:rPr lang="en-US" dirty="0"/>
                        <a:t>ResNet-50 – Small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665711"/>
                  </a:ext>
                </a:extLst>
              </a:tr>
              <a:tr h="592385">
                <a:tc>
                  <a:txBody>
                    <a:bodyPr/>
                    <a:lstStyle/>
                    <a:p>
                      <a:r>
                        <a:rPr lang="en-US" dirty="0"/>
                        <a:t>InceptionV3 - Small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349031"/>
                  </a:ext>
                </a:extLst>
              </a:tr>
              <a:tr h="592385">
                <a:tc>
                  <a:txBody>
                    <a:bodyPr/>
                    <a:lstStyle/>
                    <a:p>
                      <a:r>
                        <a:rPr lang="en-US" dirty="0"/>
                        <a:t>ResNet-50 –Large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536844"/>
                  </a:ext>
                </a:extLst>
              </a:tr>
              <a:tr h="592385">
                <a:tc>
                  <a:txBody>
                    <a:bodyPr/>
                    <a:lstStyle/>
                    <a:p>
                      <a:r>
                        <a:rPr lang="en-US" dirty="0"/>
                        <a:t>InceptionV3 Large </a:t>
                      </a:r>
                      <a:r>
                        <a:rPr lang="en-US" dirty="0" err="1"/>
                        <a:t>Datset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20468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94C736D-F64B-4B4F-977B-3EA84CCF24DF}"/>
              </a:ext>
            </a:extLst>
          </p:cNvPr>
          <p:cNvSpPr txBox="1"/>
          <p:nvPr/>
        </p:nvSpPr>
        <p:spPr>
          <a:xfrm>
            <a:off x="1036303" y="1115824"/>
            <a:ext cx="5434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COVID Classification Result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5678C-E5DC-477E-A66A-0454DD763633}"/>
              </a:ext>
            </a:extLst>
          </p:cNvPr>
          <p:cNvSpPr txBox="1"/>
          <p:nvPr/>
        </p:nvSpPr>
        <p:spPr>
          <a:xfrm>
            <a:off x="1379946" y="5138092"/>
            <a:ext cx="85715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For the same dataset, ResNetV3 model outperformed InceptionV3 model</a:t>
            </a:r>
            <a:r>
              <a:rPr lang="en-US" dirty="0">
                <a:solidFill>
                  <a:schemeClr val="bg1"/>
                </a:solidFill>
              </a:rPr>
              <a:t>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7077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C4D857D6-D6F6-8F48-8C06-282B2DC154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pic>
        <p:nvPicPr>
          <p:cNvPr id="7" name="Picture 6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811E24CA-B4F3-0948-93D2-9E6B53CBA8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1832117" cy="6858000"/>
          </a:xfrm>
          <a:prstGeom prst="rect">
            <a:avLst/>
          </a:prstGeom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Optimization</a:t>
            </a:r>
          </a:p>
        </p:txBody>
      </p:sp>
      <p:sp>
        <p:nvSpPr>
          <p:cNvPr id="10" name="Google Shape;100;p1">
            <a:extLst>
              <a:ext uri="{FF2B5EF4-FFF2-40B4-BE49-F238E27FC236}">
                <a16:creationId xmlns:a16="http://schemas.microsoft.com/office/drawing/2014/main" id="{186920B5-D75D-4D96-A546-B250E671A799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C736D-F64B-4B4F-977B-3EA84CCF24DF}"/>
              </a:ext>
            </a:extLst>
          </p:cNvPr>
          <p:cNvSpPr txBox="1"/>
          <p:nvPr/>
        </p:nvSpPr>
        <p:spPr>
          <a:xfrm>
            <a:off x="1036303" y="1115824"/>
            <a:ext cx="4459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SGD Vs ADAM Learning Rate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FA4716-FAC8-4056-9FDC-0DE08E2B3E6B}"/>
              </a:ext>
            </a:extLst>
          </p:cNvPr>
          <p:cNvSpPr txBox="1"/>
          <p:nvPr/>
        </p:nvSpPr>
        <p:spPr>
          <a:xfrm>
            <a:off x="1118586" y="1957493"/>
            <a:ext cx="977431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Gradient Descent methods are used to optimize the results.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SGD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Instead of performing computation in whole dataset SGD is used in smaller dataset with learning rate .001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ADAM (Adaptive Moment Estimation)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ADAM algorithm try to use both RMSProp and Momentum gradient descent optimization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ADAM with 3e-5 learning rate gave better performance than SGD.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098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A4F479FE-1DB6-B445-BCBB-BF00616D11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9" name="Picture 8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6D725CDA-9DE1-5348-8C4B-421C45F39E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16331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Discussion</a:t>
            </a:r>
          </a:p>
        </p:txBody>
      </p: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0A13E7D9-F852-43B3-8244-99908C757D32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9B41D-2AEA-42BD-9FD0-FBE4F5931C79}"/>
              </a:ext>
            </a:extLst>
          </p:cNvPr>
          <p:cNvSpPr txBox="1"/>
          <p:nvPr/>
        </p:nvSpPr>
        <p:spPr>
          <a:xfrm>
            <a:off x="447040" y="1074515"/>
            <a:ext cx="1083979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n-lt"/>
              </a:rPr>
              <a:t>Result Observation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n-lt"/>
              </a:rPr>
              <a:t>Approximately 97% accuracy in ResNet-50 model and 93% accuracy in InceptionV3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n-lt"/>
              </a:rPr>
              <a:t>ResNet-50 model is more accurate and effective compared to InceptionV3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n-lt"/>
              </a:rPr>
              <a:t>Vanishing Gradient issue with InceptionV3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n-lt"/>
              </a:rPr>
              <a:t>Challenges in environment creation and model hosting and deployment in AWS.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+mn-lt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+mn-lt"/>
              </a:rPr>
              <a:t>Future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Mangal" panose="02040503050203030202" pitchFamily="18" charset="0"/>
              </a:rPr>
              <a:t>Model can be further optimized, and accuracy could be reached to 99%.</a:t>
            </a:r>
            <a:endParaRPr lang="en-US" sz="1600" dirty="0">
              <a:solidFill>
                <a:schemeClr val="bg1"/>
              </a:solidFill>
              <a:effectLst/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Summary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+mn-lt"/>
                <a:cs typeface="Mangal" panose="02040503050203030202" pitchFamily="18" charset="0"/>
              </a:rPr>
              <a:t>Results based on this paper showed that the Convolutional Neural Network with minimized convolutional and fully connected layers are capable of detecting COVID-19 with good accuracy.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892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9E67C880-A11D-F44D-9B6C-7F1EB28E11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9" name="Picture 8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C266B0C9-EDCF-D04A-BFA2-E1A2B8A6EE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8165"/>
            <a:ext cx="12192000" cy="6858000"/>
          </a:xfrm>
          <a:prstGeom prst="rect">
            <a:avLst/>
          </a:prstGeom>
          <a:effectLst>
            <a:glow rad="25625">
              <a:schemeClr val="accent1">
                <a:alpha val="87000"/>
              </a:schemeClr>
            </a:glow>
          </a:effectLst>
        </p:spPr>
      </p:pic>
      <p:sp>
        <p:nvSpPr>
          <p:cNvPr id="18" name="Google Shape;145;p7">
            <a:extLst>
              <a:ext uri="{FF2B5EF4-FFF2-40B4-BE49-F238E27FC236}">
                <a16:creationId xmlns:a16="http://schemas.microsoft.com/office/drawing/2014/main" id="{37E7B2F9-4530-7540-9A7D-25FE9B6FF02F}"/>
              </a:ext>
            </a:extLst>
          </p:cNvPr>
          <p:cNvSpPr/>
          <p:nvPr/>
        </p:nvSpPr>
        <p:spPr>
          <a:xfrm rot="10800000" flipH="1">
            <a:off x="0" y="6437013"/>
            <a:ext cx="12192000" cy="420987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5;p7">
            <a:extLst>
              <a:ext uri="{FF2B5EF4-FFF2-40B4-BE49-F238E27FC236}">
                <a16:creationId xmlns:a16="http://schemas.microsoft.com/office/drawing/2014/main" id="{75FA8318-9B15-7F47-850F-EEEFE73BE16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9194208-BB88-DA45-8C43-B250F5F3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28014"/>
            <a:ext cx="277906" cy="401420"/>
          </a:xfrm>
          <a:prstGeom prst="rect">
            <a:avLst/>
          </a:prstGeom>
        </p:spPr>
      </p:pic>
      <p:sp>
        <p:nvSpPr>
          <p:cNvPr id="16" name="Google Shape;100;p1">
            <a:extLst>
              <a:ext uri="{FF2B5EF4-FFF2-40B4-BE49-F238E27FC236}">
                <a16:creationId xmlns:a16="http://schemas.microsoft.com/office/drawing/2014/main" id="{226FBA8E-8ED2-0F48-B1E6-A03B9736B13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FC8EF7BA-CDD0-442E-B21C-49DD101231CA}"/>
              </a:ext>
            </a:extLst>
          </p:cNvPr>
          <p:cNvSpPr txBox="1"/>
          <p:nvPr/>
        </p:nvSpPr>
        <p:spPr>
          <a:xfrm>
            <a:off x="376807" y="6524381"/>
            <a:ext cx="17183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598/Team 1233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C10FD-7A62-4395-A6E1-B97E3630FBAF}"/>
              </a:ext>
            </a:extLst>
          </p:cNvPr>
          <p:cNvSpPr txBox="1"/>
          <p:nvPr/>
        </p:nvSpPr>
        <p:spPr>
          <a:xfrm>
            <a:off x="196426" y="849283"/>
            <a:ext cx="11554409" cy="5560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24130" lvl="0" indent="-342900" algn="just">
              <a:spcBef>
                <a:spcPts val="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Roberts, M., Driggs, D., Thorpe, M. </a:t>
            </a:r>
            <a:r>
              <a:rPr lang="en-US" sz="12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et al.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Common pitfalls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and recommendations for using machine learning to detect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and prognosticate for COVID-19 using chest radiographs and</a:t>
            </a:r>
            <a:r>
              <a:rPr lang="en-US" sz="1200" spc="-21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CT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scans.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Nat</a:t>
            </a:r>
            <a:r>
              <a:rPr lang="en-US" sz="1200" i="1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Mach</a:t>
            </a:r>
            <a:r>
              <a:rPr lang="en-US" sz="1200" i="1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Intell</a:t>
            </a:r>
            <a:r>
              <a:rPr lang="en-US" sz="1200" i="1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3,</a:t>
            </a:r>
            <a:r>
              <a:rPr lang="en-US" sz="1200" b="1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199–217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(2021).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(link: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u="sng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https://doi.org/10.1038/s42256-021-00307-0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)</a:t>
            </a:r>
          </a:p>
          <a:p>
            <a:pPr marL="342900" marR="24130" lvl="0" indent="-342900" algn="just">
              <a:spcBef>
                <a:spcPts val="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6035" lvl="0" indent="-342900" algn="just">
              <a:spcBef>
                <a:spcPts val="40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Cohen, J. P. COVID-19 Image Data Collection. </a:t>
            </a: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ArXiv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. 2020,</a:t>
            </a:r>
            <a:r>
              <a:rPr lang="en-US" sz="1200" spc="-21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arXiv:2003.11597.</a:t>
            </a:r>
          </a:p>
          <a:p>
            <a:pPr marL="342900" marR="26035" lvl="0" indent="-342900" algn="just">
              <a:spcBef>
                <a:spcPts val="40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6035" indent="-342900" algn="just">
              <a:spcBef>
                <a:spcPts val="405"/>
              </a:spcBef>
              <a:buSzPts val="900"/>
              <a:buFont typeface="+mj-lt"/>
              <a:buAutoNum type="arabicPeriod"/>
              <a:tabLst>
                <a:tab pos="419735" algn="l"/>
              </a:tabLst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Ozturk T, </a:t>
            </a:r>
            <a:r>
              <a:rPr lang="en-US" sz="1200" dirty="0" err="1">
                <a:solidFill>
                  <a:schemeClr val="bg1"/>
                </a:solidFill>
                <a:latin typeface="+mn-lt"/>
              </a:rPr>
              <a:t>Talo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 M, Yildirim EA, </a:t>
            </a:r>
            <a:r>
              <a:rPr lang="en-US" sz="1200" dirty="0" err="1">
                <a:solidFill>
                  <a:schemeClr val="bg1"/>
                </a:solidFill>
                <a:latin typeface="+mn-lt"/>
              </a:rPr>
              <a:t>Baloglu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 UB, Yildirim O, Rajendra Acharya U. Automated detection of COVID-19 cases using deep neural networks with X-ray images. </a:t>
            </a:r>
            <a:r>
              <a:rPr lang="en-US" sz="1200" dirty="0" err="1">
                <a:solidFill>
                  <a:schemeClr val="bg1"/>
                </a:solidFill>
                <a:latin typeface="+mn-lt"/>
              </a:rPr>
              <a:t>Comput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 Biol Med. 2020;121:103792. doi:10.1016/j.compbiomed.2020.103792</a:t>
            </a:r>
          </a:p>
          <a:p>
            <a:pPr marL="342900" marR="26035" lvl="0" indent="-342900" algn="just">
              <a:spcBef>
                <a:spcPts val="40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6035" lvl="0" indent="-342900" algn="just">
              <a:spcBef>
                <a:spcPts val="40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Sekeroglu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B, </a:t>
            </a: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Ozsahin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I. Detection of COVID-19 from Chest X-Ray Images Using Convolutional Neural Networks. SLAS TECHNOLOGY: Translating Life Sciences Innovation. 2020;25(6):553-565. doi:10.1177/2472630320958376 (link: </a:t>
            </a:r>
            <a:r>
              <a:rPr lang="en-US" sz="1200" dirty="0">
                <a:solidFill>
                  <a:schemeClr val="bg1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https://doi.org/10.1177/2472630320958376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)</a:t>
            </a: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6035" lvl="0" indent="-342900" algn="just">
              <a:spcBef>
                <a:spcPts val="40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4130" lvl="0" indent="-342900" algn="just">
              <a:spcBef>
                <a:spcPts val="0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Apostolopoulos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, I.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D.,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Mpesiana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T.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Covid-19: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Automatic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Detection from X-Ray Images Utilizing Transfer Learning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with Convolutional Neural Networks. Phys. Eng. Sci. Med.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2020,</a:t>
            </a:r>
            <a:r>
              <a:rPr lang="en-US" sz="1200" spc="-1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43,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635–640</a:t>
            </a:r>
          </a:p>
          <a:p>
            <a:pPr marL="342900" marR="24130" lvl="0" indent="-342900" algn="just">
              <a:spcBef>
                <a:spcPts val="0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4765" lvl="0" indent="-342900" algn="just">
              <a:spcBef>
                <a:spcPts val="39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Z. </a:t>
            </a: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Zahisham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, C. P. Lee and K. M. Lim, "Food Recognition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with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ResNet-50," 2020 IEEE 2nd</a:t>
            </a:r>
            <a:r>
              <a:rPr lang="en-US" sz="1200" spc="22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International Conference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on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Artificial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Intelligence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in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Engineering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and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Technology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(IICAIET),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Kota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Kinabalu,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Malaysia,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2020,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pp.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1-5,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DOI: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10.1109/IICAIET49801.2020.9257825.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(link: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u="sng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https://doi.org/10.1016/j.procs.2018.05.069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)</a:t>
            </a:r>
          </a:p>
          <a:p>
            <a:pPr marL="342900" marR="24765" lvl="0" indent="-342900" algn="just">
              <a:spcBef>
                <a:spcPts val="39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4765" lvl="0" indent="-342900" algn="just">
              <a:spcBef>
                <a:spcPts val="400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Peng,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CY.J.,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So,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TS.H.,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Stage,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F.K.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et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al.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The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Use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and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Interpretation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of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Logistic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Regression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in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Higher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Education</a:t>
            </a:r>
            <a:r>
              <a:rPr lang="en-US" sz="1200" spc="-21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Journals: 1988–1999. Research in Higher Education 43, 259–</a:t>
            </a:r>
            <a:r>
              <a:rPr lang="en-US" sz="1200" spc="-21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293</a:t>
            </a:r>
            <a:r>
              <a:rPr lang="en-US" sz="1200" spc="-1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(2002).</a:t>
            </a:r>
            <a:r>
              <a:rPr lang="en-US" sz="1200" spc="-1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u="sng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https://doi.org/10.1023/A:1014858517172</a:t>
            </a:r>
            <a:endParaRPr lang="en-US" sz="1200" u="sng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4765" lvl="0" indent="-342900" algn="just">
              <a:spcBef>
                <a:spcPts val="400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4765" indent="-342900" algn="just">
              <a:spcBef>
                <a:spcPts val="400"/>
              </a:spcBef>
              <a:buSzPts val="900"/>
              <a:buFont typeface="+mj-lt"/>
              <a:buAutoNum type="arabicPeriod"/>
              <a:tabLst>
                <a:tab pos="419735" algn="l"/>
              </a:tabLst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Wang, L., Lin, Z.Q. &amp; Wong, A. COVID-Net: a tailored deep convolutional neural network design for detection of COVID-19 cases from chest X-ray images. Sci Rep 10, 19549 (2020). </a:t>
            </a:r>
            <a:r>
              <a:rPr lang="en-US" sz="1200" dirty="0">
                <a:solidFill>
                  <a:schemeClr val="bg1"/>
                </a:solidFill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https://doi.org/10.1038/s41598-020-76550-z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  <a:p>
            <a:pPr marL="342900" marR="26670" lvl="0" indent="-342900">
              <a:spcBef>
                <a:spcPts val="39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marR="24765" lvl="0" indent="-342900" algn="just">
              <a:spcBef>
                <a:spcPts val="405"/>
              </a:spcBef>
              <a:spcAft>
                <a:spcPts val="0"/>
              </a:spcAft>
              <a:buSzPts val="900"/>
              <a:buFont typeface="+mj-lt"/>
              <a:buAutoNum type="arabicPeriod"/>
              <a:tabLst>
                <a:tab pos="419735" algn="l"/>
              </a:tabLst>
            </a:pP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Yoo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,</a:t>
            </a:r>
            <a:r>
              <a:rPr lang="en-US" sz="1200" spc="13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S.</a:t>
            </a:r>
            <a:r>
              <a:rPr lang="en-US" sz="1200" spc="14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H.,</a:t>
            </a:r>
            <a:r>
              <a:rPr lang="en-US" sz="1200" spc="14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Geng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,</a:t>
            </a:r>
            <a:r>
              <a:rPr lang="en-US" sz="1200" spc="14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H.,</a:t>
            </a:r>
            <a:r>
              <a:rPr lang="en-US" sz="1200" spc="13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Chiu,</a:t>
            </a:r>
            <a:r>
              <a:rPr lang="en-US" sz="1200" spc="13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T.</a:t>
            </a:r>
            <a:r>
              <a:rPr lang="en-US" sz="1200" spc="13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L.,</a:t>
            </a:r>
            <a:r>
              <a:rPr lang="en-US" sz="1200" spc="14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Yu,</a:t>
            </a:r>
            <a:r>
              <a:rPr lang="en-US" sz="1200" spc="14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S.</a:t>
            </a:r>
            <a:r>
              <a:rPr lang="en-US" sz="1200" spc="13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K.,</a:t>
            </a:r>
            <a:r>
              <a:rPr lang="en-US" sz="1200" spc="14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Cho,</a:t>
            </a:r>
            <a:r>
              <a:rPr lang="en-US" sz="1200" spc="14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D.</a:t>
            </a:r>
            <a:r>
              <a:rPr lang="en-US" sz="1200" spc="14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C.,</a:t>
            </a:r>
            <a:r>
              <a:rPr lang="en-US" sz="1200" spc="-21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Heo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,</a:t>
            </a:r>
            <a:r>
              <a:rPr lang="en-US" sz="1200" spc="9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J.,</a:t>
            </a:r>
            <a:r>
              <a:rPr lang="en-US" sz="1200" spc="9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Choi,</a:t>
            </a:r>
            <a:r>
              <a:rPr lang="en-US" sz="1200" spc="8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M.</a:t>
            </a:r>
            <a:r>
              <a:rPr lang="en-US" sz="1200" spc="8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S.,</a:t>
            </a:r>
            <a:r>
              <a:rPr lang="en-US" sz="1200" spc="9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Choi,</a:t>
            </a:r>
            <a:r>
              <a:rPr lang="en-US" sz="1200" spc="9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I.</a:t>
            </a:r>
            <a:r>
              <a:rPr lang="en-US" sz="1200" spc="9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H.,</a:t>
            </a:r>
            <a:r>
              <a:rPr lang="en-US" sz="1200" spc="9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Cung</a:t>
            </a:r>
            <a:r>
              <a:rPr lang="en-US" sz="1200" spc="9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Van,</a:t>
            </a:r>
            <a:r>
              <a:rPr lang="en-US" sz="1200" spc="8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C.,</a:t>
            </a:r>
            <a:r>
              <a:rPr lang="en-US" sz="1200" spc="9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Nhung,</a:t>
            </a:r>
            <a:r>
              <a:rPr lang="en-US" sz="1200" spc="8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N.</a:t>
            </a:r>
            <a:r>
              <a:rPr lang="en-US" sz="1200" spc="-21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V.,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Min,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B.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J.,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&amp;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Lee,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H.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(2020).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Deep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Learning-Based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Decision-Tree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Classifier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for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COVID-19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Diagnosis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From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Chest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X-ray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Imaging.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Frontiers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in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medicine,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7,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427.</a:t>
            </a:r>
            <a:r>
              <a:rPr lang="en-US" sz="1200" spc="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200" u="sng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https://doi.org/10.3389/fmed.2020.00427</a:t>
            </a:r>
            <a:endParaRPr lang="en-US" sz="1200" dirty="0">
              <a:solidFill>
                <a:schemeClr val="bg1"/>
              </a:solidFill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435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7">
            <a:extLst>
              <a:ext uri="{FF2B5EF4-FFF2-40B4-BE49-F238E27FC236}">
                <a16:creationId xmlns:a16="http://schemas.microsoft.com/office/drawing/2014/main" id="{EDE84C5E-DF3B-C24C-AAD6-2F82030A6ABE}"/>
              </a:ext>
            </a:extLst>
          </p:cNvPr>
          <p:cNvSpPr/>
          <p:nvPr/>
        </p:nvSpPr>
        <p:spPr>
          <a:xfrm rot="10800000" flipH="1">
            <a:off x="-1" y="0"/>
            <a:ext cx="12192000" cy="686616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A picture containing building, street&#10;&#10;Description automatically generated">
            <a:extLst>
              <a:ext uri="{FF2B5EF4-FFF2-40B4-BE49-F238E27FC236}">
                <a16:creationId xmlns:a16="http://schemas.microsoft.com/office/drawing/2014/main" id="{996F970E-FA6D-194A-A7B6-369BB2EE1D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1" y="8165"/>
            <a:ext cx="12192000" cy="6858000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28BC93BA-1468-2D49-8D6A-DCDB0221B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210" y="235709"/>
            <a:ext cx="277906" cy="401420"/>
          </a:xfrm>
          <a:prstGeom prst="rect">
            <a:avLst/>
          </a:prstGeom>
        </p:spPr>
      </p:pic>
      <p:sp>
        <p:nvSpPr>
          <p:cNvPr id="11" name="Google Shape;147;p7">
            <a:extLst>
              <a:ext uri="{FF2B5EF4-FFF2-40B4-BE49-F238E27FC236}">
                <a16:creationId xmlns:a16="http://schemas.microsoft.com/office/drawing/2014/main" id="{E0413B06-A2E6-C746-8C3D-87E15D354737}"/>
              </a:ext>
            </a:extLst>
          </p:cNvPr>
          <p:cNvSpPr txBox="1">
            <a:spLocks/>
          </p:cNvSpPr>
          <p:nvPr/>
        </p:nvSpPr>
        <p:spPr>
          <a:xfrm>
            <a:off x="376807" y="1334279"/>
            <a:ext cx="11177403" cy="349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000"/>
            </a:pPr>
            <a:endParaRPr lang="en-US" sz="2600" b="1" dirty="0">
              <a:solidFill>
                <a:schemeClr val="bg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  <a:p>
            <a:pPr>
              <a:buSzPts val="3000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Thank You</a:t>
            </a:r>
          </a:p>
          <a:p>
            <a:pPr>
              <a:buSzPts val="3000"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  <a:p>
            <a:pPr>
              <a:buSzPts val="3000"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  <a:p>
            <a:pPr>
              <a:buSzPts val="3000"/>
            </a:pPr>
            <a:r>
              <a:rPr lang="en-US" sz="1800" dirty="0">
                <a:solidFill>
                  <a:schemeClr val="bg1"/>
                </a:solidFill>
                <a:effectLst/>
              </a:rPr>
              <a:t>Michael Alpas</a:t>
            </a:r>
            <a:r>
              <a:rPr lang="en-US" sz="1800" dirty="0">
                <a:solidFill>
                  <a:schemeClr val="bg1"/>
                </a:solidFill>
                <a:effectLst/>
                <a:ea typeface="+mn-lt"/>
                <a:cs typeface="+mn-lt"/>
              </a:rPr>
              <a:t>, Mohit Singh, Upendra Yadav, Wasique Ahmad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ED0078C6-6650-F54D-BD74-F6DEF7A9D52F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CS 598 / Team 1233</a:t>
            </a:r>
          </a:p>
        </p:txBody>
      </p:sp>
    </p:spTree>
    <p:extLst>
      <p:ext uri="{BB962C8B-B14F-4D97-AF65-F5344CB8AC3E}">
        <p14:creationId xmlns:p14="http://schemas.microsoft.com/office/powerpoint/2010/main" val="420909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19309</TotalTime>
  <Words>1350</Words>
  <Application>Microsoft Office PowerPoint</Application>
  <PresentationFormat>Widescreen</PresentationFormat>
  <Paragraphs>197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template. Please copy this document before making any edits</dc:title>
  <dc:creator>Nielsen, Joshua</dc:creator>
  <cp:lastModifiedBy>Wasique Ahmad</cp:lastModifiedBy>
  <cp:revision>296</cp:revision>
  <dcterms:created xsi:type="dcterms:W3CDTF">2019-01-14T22:06:33Z</dcterms:created>
  <dcterms:modified xsi:type="dcterms:W3CDTF">2021-05-09T23:14:59Z</dcterms:modified>
</cp:coreProperties>
</file>